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0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307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3D04A-DA86-4B04-A737-F2AA584F00DB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2E05-2E4B-4250-9F76-25FCD4483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8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F172A"/>
                </a:solidFill>
              </a:rPr>
              <a:t>AI-Assisted Recipe Generation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334155"/>
                </a:solidFill>
              </a:rPr>
              <a:t>Corrugated carton inspection using CAD/spec PDF, artwork PDF, calibrated camera image and AI-created inspection rules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1554480" cy="28346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563EB"/>
                </a:solidFill>
              </a:rPr>
              <a:t>CAD / DWG / PDF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514600" y="2697480"/>
            <a:ext cx="1828800" cy="2834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6A34A"/>
                </a:solidFill>
              </a:rPr>
              <a:t>AI recipe generator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617720" y="2697480"/>
            <a:ext cx="1691640" cy="28346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D97706"/>
                </a:solidFill>
              </a:rPr>
              <a:t>Runtime inspection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1600200" cy="28346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DC2626"/>
                </a:solidFill>
              </a:rPr>
              <a:t>Pass / Fail report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955280" y="3429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3730752"/>
            <a:ext cx="17373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Inspection Recipe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7888" y="4160520"/>
            <a:ext cx="1965960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slot_top_01 → slot tool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crease_02 → line tool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barcode_03 → match tool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10012680" y="1874520"/>
            <a:ext cx="1078992" cy="822960"/>
          </a:xfrm>
          <a:prstGeom prst="hexagon">
            <a:avLst/>
          </a:prstGeom>
          <a:solidFill>
            <a:srgbClr val="DCFCE7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05288" y="2167128"/>
            <a:ext cx="5029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9893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6A34A"/>
                </a:solidFill>
              </a:rPr>
              <a:t>Less manual setup, </a:t>
            </a:r>
            <a:r>
              <a:rPr lang="en-US" sz="1520" b="1" dirty="0">
                <a:solidFill>
                  <a:srgbClr val="16A34A"/>
                </a:solidFill>
              </a:rPr>
              <a:t>U</a:t>
            </a:r>
            <a:r>
              <a:rPr lang="en-US" sz="1520" b="1" dirty="0" smtClean="0">
                <a:solidFill>
                  <a:srgbClr val="16A34A"/>
                </a:solidFill>
              </a:rPr>
              <a:t>se review </a:t>
            </a:r>
            <a:r>
              <a:rPr lang="en-US" sz="1520" b="1" dirty="0">
                <a:solidFill>
                  <a:srgbClr val="16A34A"/>
                </a:solidFill>
              </a:rPr>
              <a:t>only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a recipe is needed</a:t>
            </a:r>
            <a:endParaRPr lang="en-US" sz="28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280160" y="1350830"/>
            <a:ext cx="5074920" cy="2614354"/>
            <a:chOff x="6355080" y="1417320"/>
            <a:chExt cx="5074920" cy="2536593"/>
          </a:xfrm>
        </p:grpSpPr>
        <p:sp>
          <p:nvSpPr>
            <p:cNvPr id="7" name="Shape 5"/>
            <p:cNvSpPr/>
            <p:nvPr/>
          </p:nvSpPr>
          <p:spPr>
            <a:xfrm>
              <a:off x="6355080" y="1417320"/>
              <a:ext cx="5074920" cy="2536593"/>
            </a:xfrm>
            <a:prstGeom prst="roundRect">
              <a:avLst>
                <a:gd name="adj" fmla="val 1860"/>
              </a:avLst>
            </a:prstGeom>
            <a:solidFill>
              <a:srgbClr val="FEF3C7"/>
            </a:solidFill>
            <a:ln w="12700">
              <a:solidFill>
                <a:srgbClr val="D97706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647688" y="1719072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97706"/>
                  </a:solidFill>
                </a:rPr>
                <a:t>Corrugated challenge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702552" y="2148840"/>
              <a:ext cx="3977640" cy="114300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lnSpcReduction="10000"/>
            </a:bodyPr>
            <a:lstStyle/>
            <a:p>
              <a:pPr marL="285750" indent="-285750">
                <a:buFont typeface="Arial" pitchFamily="34" charset="0"/>
                <a:buChar char="•"/>
              </a:pPr>
              <a:r>
                <a:rPr lang="en-US" sz="1320" dirty="0">
                  <a:solidFill>
                    <a:srgbClr val="334155"/>
                  </a:solidFill>
                </a:rPr>
                <a:t>PDF/CAD contains lines, text, dimension arrows and artwork mixed together</a:t>
              </a:r>
              <a:endParaRPr lang="en-US" sz="1320" dirty="0"/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320" dirty="0">
                  <a:solidFill>
                    <a:srgbClr val="334155"/>
                  </a:solidFill>
                </a:rPr>
                <a:t>Software must know which feature is slot, crease, cut edge or print ROI</a:t>
              </a:r>
              <a:endParaRPr lang="en-US" sz="1320" dirty="0"/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320" dirty="0">
                  <a:solidFill>
                    <a:srgbClr val="334155"/>
                  </a:solidFill>
                </a:rPr>
                <a:t>Without a recipe, runtime algorithm can detect shapes but cannot assign meaning</a:t>
              </a:r>
              <a:endParaRPr lang="en-US" sz="132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6903720" y="1094370"/>
            <a:ext cx="4318462" cy="3231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Solution: </a:t>
            </a:r>
            <a:r>
              <a:rPr lang="en-US" sz="1600" dirty="0" smtClean="0">
                <a:solidFill>
                  <a:srgbClr val="0F172A"/>
                </a:solidFill>
              </a:rPr>
              <a:t>Create </a:t>
            </a:r>
            <a:r>
              <a:rPr lang="en-US" sz="1600" dirty="0">
                <a:solidFill>
                  <a:srgbClr val="0F172A"/>
                </a:solidFill>
              </a:rPr>
              <a:t>an AI-assisted Recipe Generator that converts CAD/artwork into </a:t>
            </a:r>
            <a:r>
              <a:rPr lang="en-US" sz="1600" dirty="0" smtClean="0">
                <a:solidFill>
                  <a:srgbClr val="0F172A"/>
                </a:solidFill>
              </a:rPr>
              <a:t>measurement </a:t>
            </a:r>
            <a:r>
              <a:rPr lang="en-US" sz="1600" dirty="0">
                <a:solidFill>
                  <a:srgbClr val="0F172A"/>
                </a:solidFill>
              </a:rPr>
              <a:t>rules.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Two-mode software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Template setup is AI-assisted; runtime inspection is fully automatic after recipe approval.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2331720" y="1847088"/>
            <a:ext cx="4572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892040" y="1847088"/>
            <a:ext cx="4572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52360" y="1847088"/>
            <a:ext cx="4572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012680" y="1847088"/>
            <a:ext cx="4572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1790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81328"/>
            <a:ext cx="10332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Load CAD/spec PDF + artwork PDF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2788920" y="1371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8648" y="151790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481328"/>
            <a:ext cx="14447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AI generates draft inspection recipe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349240" y="1371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58968" y="151790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896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16168" y="1481328"/>
            <a:ext cx="14447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Engineer reviews only exceptions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909560" y="1371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9288" y="151790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928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76488" y="1481328"/>
            <a:ext cx="14447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Save approved recipe per template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0469879" y="1371600"/>
            <a:ext cx="1475509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79608" y="151790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7960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36808" y="1481328"/>
            <a:ext cx="82545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Runtime camera inspection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822960" y="306324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Setup Mode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5568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r>
              <a:rPr lang="en-US" sz="1280" dirty="0">
                <a:solidFill>
                  <a:srgbClr val="334155"/>
                </a:solidFill>
              </a:rPr>
              <a:t>Run once per new carton design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AI extracts features and dimensions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Engineer approves generated recipe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4480560" y="306324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Recipe Database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73168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r>
              <a:rPr lang="en-US" sz="1280" dirty="0">
                <a:solidFill>
                  <a:srgbClr val="334155"/>
                </a:solidFill>
              </a:rPr>
              <a:t>Template ID and version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Feature type and ROI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Expected dimension, tolerance, detector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8138160" y="306324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Runtime Mode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30768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r>
              <a:rPr lang="en-US" sz="1280" dirty="0">
                <a:solidFill>
                  <a:srgbClr val="334155"/>
                </a:solidFill>
              </a:rPr>
              <a:t>Select job/template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Capture, register and inspect automatically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Report deviations and failures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AI Recipe Generator: detailed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Use a hybrid system: deterministic parsing where possible, AI classification where understanding is required.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2212848" y="1901952"/>
            <a:ext cx="576072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864608" y="1901952"/>
            <a:ext cx="576072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16368" y="1901952"/>
            <a:ext cx="576072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168128" y="1901952"/>
            <a:ext cx="576072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47218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61288" y="1435608"/>
            <a:ext cx="1033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PDF/DWG/DXF parser extracts vectors, text and rendered images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2788920" y="13258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8648" y="147218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435608"/>
            <a:ext cx="1399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Layout AI classifies features: slot, crease, cut, panel, dimension text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40680" y="13258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0408" y="147218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040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7608" y="1435608"/>
            <a:ext cx="1399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Artwork AI detects barcode, logo, symbols, text blocks and ROIs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092440" y="13258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02168" y="14721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59368" y="1435608"/>
            <a:ext cx="1399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Geometry reasoning links dimensions to features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0744199" y="1325880"/>
            <a:ext cx="1359132" cy="114300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53928" y="147218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392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11127" y="1435608"/>
            <a:ext cx="58438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Structured recipe JSON is created automatically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822960" y="315468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3456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Why hybrid is better than a single black-box model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5568" y="3840480"/>
            <a:ext cx="41605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20000"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80" dirty="0">
                <a:solidFill>
                  <a:srgbClr val="334155"/>
                </a:solidFill>
              </a:rPr>
              <a:t>PDF geometry and text extraction is deterministic when vectors are available</a:t>
            </a:r>
            <a:endParaRPr lang="en-US" sz="128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280" dirty="0">
                <a:solidFill>
                  <a:srgbClr val="334155"/>
                </a:solidFill>
              </a:rPr>
              <a:t>AI is used for semantic classification and complex layout understanding</a:t>
            </a:r>
            <a:endParaRPr lang="en-US" sz="128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280" dirty="0">
                <a:solidFill>
                  <a:srgbClr val="334155"/>
                </a:solidFill>
              </a:rPr>
              <a:t>Rule logic converts AI detections into measurable inspection instructions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6400800" y="315468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3456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Recipe output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93408" y="3840480"/>
            <a:ext cx="41605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80" dirty="0">
                <a:solidFill>
                  <a:srgbClr val="334155"/>
                </a:solidFill>
              </a:rPr>
              <a:t>Feature identity: slot / crease / label / barcode</a:t>
            </a:r>
            <a:endParaRPr lang="en-US" sz="128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280" dirty="0">
                <a:solidFill>
                  <a:srgbClr val="334155"/>
                </a:solidFill>
              </a:rPr>
              <a:t>Expected coordinates and dimensions in inch/mm</a:t>
            </a:r>
            <a:endParaRPr lang="en-US" sz="128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280" dirty="0">
                <a:solidFill>
                  <a:srgbClr val="334155"/>
                </a:solidFill>
              </a:rPr>
              <a:t>Measurement method and tolerance per feature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CAD structural extraction: from lines to carton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The AI does not only detect a line; it assigns meaning and creates a measurement rule.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35640" cy="464820"/>
          </a:xfrm>
          <a:prstGeom prst="rect">
            <a:avLst/>
          </a:prstGeom>
          <a:solidFill>
            <a:srgbClr val="2563EB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99032"/>
            <a:ext cx="249082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Detected CAD element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3359506" y="1399032"/>
            <a:ext cx="3357677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AI classification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6826910" y="1399032"/>
            <a:ext cx="465795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Generated inspection rule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85800" y="1790700"/>
            <a:ext cx="1083564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63852"/>
            <a:ext cx="249082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Outer contour polyline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59506" y="1863852"/>
            <a:ext cx="3357677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Blank boundary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26910" y="1863852"/>
            <a:ext cx="465795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Measure overall length, width, skew, edge deviation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255520"/>
            <a:ext cx="10835640" cy="464820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328672"/>
            <a:ext cx="249082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Vertical/horizontal internal 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59506" y="2328672"/>
            <a:ext cx="3357677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Crease / score 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26910" y="2328672"/>
            <a:ext cx="465795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Search local ROI, fit line, compare X/Y position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720340"/>
            <a:ext cx="1083564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793492"/>
            <a:ext cx="249082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Cut opening at edge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9506" y="2793492"/>
            <a:ext cx="3357677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Slot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26910" y="2793492"/>
            <a:ext cx="465795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Measure slot depth, slot width/gap and offset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185160"/>
            <a:ext cx="10835640" cy="464820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258312"/>
            <a:ext cx="249082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Panel partition lines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9506" y="3258312"/>
            <a:ext cx="3357677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Panel / flap boundary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26910" y="3258312"/>
            <a:ext cx="465795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Measure panel width and flap height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3649980"/>
            <a:ext cx="1083564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723132"/>
            <a:ext cx="249082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Dimension text + arrows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9506" y="3723132"/>
            <a:ext cx="3357677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Expected value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26910" y="3723132"/>
            <a:ext cx="465795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Link dimension value to nearby feature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4663440"/>
            <a:ext cx="48006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7688" y="4910328"/>
            <a:ext cx="4389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563EB"/>
                </a:solidFill>
              </a:rPr>
              <a:t>Example: vertical line at X = </a:t>
            </a:r>
            <a:r>
              <a:rPr lang="en-US" sz="1230" b="1" dirty="0" smtClean="0">
                <a:solidFill>
                  <a:srgbClr val="2563EB"/>
                </a:solidFill>
              </a:rPr>
              <a:t>5.14” </a:t>
            </a:r>
            <a:r>
              <a:rPr lang="en-US" sz="1230" b="1" dirty="0">
                <a:solidFill>
                  <a:srgbClr val="2563EB"/>
                </a:solidFill>
              </a:rPr>
              <a:t>→ crease_01 expected_x = </a:t>
            </a:r>
            <a:r>
              <a:rPr lang="en-US" sz="1230" b="1" dirty="0" smtClean="0">
                <a:solidFill>
                  <a:srgbClr val="2563EB"/>
                </a:solidFill>
              </a:rPr>
              <a:t>5.14 </a:t>
            </a:r>
            <a:r>
              <a:rPr lang="en-US" sz="1230" b="1" dirty="0">
                <a:solidFill>
                  <a:srgbClr val="2563EB"/>
                </a:solidFill>
              </a:rPr>
              <a:t>inch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Artwork extraction: from PDF artwork to inspection ROIs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The artwork PDF is converted into expected print objects with type, position, size and inspection method.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2743200" y="1874520"/>
            <a:ext cx="54864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715000" y="1874520"/>
            <a:ext cx="54864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86800" y="1874520"/>
            <a:ext cx="54864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47218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435608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Render artwork PDF at high DPI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47218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58768" y="1435608"/>
            <a:ext cx="1764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AI detects print objects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147218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0568" y="1435608"/>
            <a:ext cx="1764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Assign object type and expected box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9235440" y="13258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14721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15316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02368" y="1435608"/>
            <a:ext cx="1353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Create ROI inspection rules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22960" y="306324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355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Detected print types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5568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60" dirty="0">
                <a:solidFill>
                  <a:srgbClr val="334155"/>
                </a:solidFill>
              </a:rPr>
              <a:t>Barcode / QR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Logo / product mark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Text block / warnings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Symbols and certification icons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4526280" y="306324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355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Stored per ROI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18888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60" dirty="0">
                <a:solidFill>
                  <a:srgbClr val="334155"/>
                </a:solidFill>
              </a:rPr>
              <a:t>Expected X/Y, width, height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Orientation and local tolerance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Master patch or barcode pattern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Required / optional flag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229600" y="306324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3355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Runtime check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22208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60" dirty="0">
                <a:solidFill>
                  <a:srgbClr val="334155"/>
                </a:solidFill>
              </a:rPr>
              <a:t>Search near expected location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Measure X/Y shift and rotation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Check present, missing or wrong</a:t>
            </a:r>
            <a:endParaRPr lang="en-US" sz="1260" dirty="0"/>
          </a:p>
          <a:p>
            <a:r>
              <a:rPr lang="en-US" sz="1260" dirty="0">
                <a:solidFill>
                  <a:srgbClr val="334155"/>
                </a:solidFill>
              </a:rPr>
              <a:t>Confidence + pass/fail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How AI knows which slot or crease has which dimension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Dimension-to-feature linking is handled by geometry reasoning, not by runtime guessing.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926080" cy="4251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1. Read dimension evidence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r>
              <a:rPr lang="en-US" sz="1280" dirty="0">
                <a:solidFill>
                  <a:srgbClr val="334155"/>
                </a:solidFill>
              </a:rPr>
              <a:t>Text: </a:t>
            </a:r>
            <a:r>
              <a:rPr lang="en-US" sz="1280" dirty="0" smtClean="0">
                <a:solidFill>
                  <a:srgbClr val="334155"/>
                </a:solidFill>
              </a:rPr>
              <a:t>7.02”, 4.06”, 5.15”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Dimension arrows and extension lines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Nearby feature lines or slot geometry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3886200" y="3246120"/>
            <a:ext cx="5943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234440"/>
            <a:ext cx="2926080" cy="425196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2. Build geometry graph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920240"/>
            <a:ext cx="21488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r>
              <a:rPr lang="en-US" sz="1280" dirty="0">
                <a:solidFill>
                  <a:srgbClr val="334155"/>
                </a:solidFill>
              </a:rPr>
              <a:t>Nodes: lines, slots, arrows, text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Edges: near, parallel, perpendicular, bounded by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Inference: this text belongs to this measured feature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480060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34155"/>
                </a:solidFill>
              </a:rPr>
              <a:t>Example relationship: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334155"/>
                </a:solidFill>
              </a:rPr>
              <a:t>slot opening is bounded by top edge and bottom cut line; dimension arrow spans same direction.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7635240" y="3246120"/>
            <a:ext cx="59436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1234440"/>
            <a:ext cx="2926080" cy="4251960"/>
          </a:xfrm>
          <a:prstGeom prst="roundRect">
            <a:avLst>
              <a:gd name="adj" fmla="val 25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3. Write recipe rule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r>
              <a:rPr lang="en-US" sz="1280" dirty="0">
                <a:solidFill>
                  <a:srgbClr val="334155"/>
                </a:solidFill>
              </a:rPr>
              <a:t>Feature name and type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Expected value in inch/mm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Reference edge or coordinate</a:t>
            </a:r>
            <a:endParaRPr lang="en-US" sz="1280" dirty="0"/>
          </a:p>
          <a:p>
            <a:r>
              <a:rPr lang="en-US" sz="1280" dirty="0">
                <a:solidFill>
                  <a:srgbClr val="334155"/>
                </a:solidFill>
              </a:rPr>
              <a:t>Measurement rule and tolerance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549640" y="4160520"/>
            <a:ext cx="2148840" cy="8229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slot_top_01: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type = slot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reference = top_edge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expected_depth = 5.9375 in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Inspection recipe: </a:t>
            </a:r>
            <a:r>
              <a:rPr lang="en-US" sz="2800" b="1" dirty="0" smtClean="0">
                <a:solidFill>
                  <a:srgbClr val="0F172A"/>
                </a:solidFill>
              </a:rPr>
              <a:t>output </a:t>
            </a:r>
            <a:r>
              <a:rPr lang="en-US" sz="2800" b="1" dirty="0">
                <a:solidFill>
                  <a:srgbClr val="0F172A"/>
                </a:solidFill>
              </a:rPr>
              <a:t>of AI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This structured file tells runtime exactly what each feature is, where to search and how to measure.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44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Recipe contents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11480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90" dirty="0">
                <a:solidFill>
                  <a:srgbClr val="334155"/>
                </a:solidFill>
              </a:rPr>
              <a:t>Template ID, unit, version and tolerance profile</a:t>
            </a:r>
            <a:endParaRPr lang="en-US" sz="1290" dirty="0"/>
          </a:p>
          <a:p>
            <a:r>
              <a:rPr lang="en-US" sz="1290" dirty="0">
                <a:solidFill>
                  <a:srgbClr val="334155"/>
                </a:solidFill>
              </a:rPr>
              <a:t>Sheet coordinate system and reference edges</a:t>
            </a:r>
            <a:endParaRPr lang="en-US" sz="1290" dirty="0"/>
          </a:p>
          <a:p>
            <a:r>
              <a:rPr lang="en-US" sz="1290" dirty="0">
                <a:solidFill>
                  <a:srgbClr val="334155"/>
                </a:solidFill>
              </a:rPr>
              <a:t>Structural features: boundary, crease, slot, panel, flap</a:t>
            </a:r>
            <a:endParaRPr lang="en-US" sz="1290" dirty="0"/>
          </a:p>
          <a:p>
            <a:r>
              <a:rPr lang="en-US" sz="1290" dirty="0">
                <a:solidFill>
                  <a:srgbClr val="334155"/>
                </a:solidFill>
              </a:rPr>
              <a:t>Artwork features: barcode, logo, text block, symbol</a:t>
            </a:r>
            <a:endParaRPr lang="en-US" sz="1290" dirty="0"/>
          </a:p>
          <a:p>
            <a:r>
              <a:rPr lang="en-US" sz="1290" dirty="0">
                <a:solidFill>
                  <a:srgbClr val="334155"/>
                </a:solidFill>
              </a:rPr>
              <a:t>For each feature: ROI, expected value, detector, pass/fail rule</a:t>
            </a:r>
            <a:endParaRPr lang="en-US" sz="1290" dirty="0"/>
          </a:p>
        </p:txBody>
      </p:sp>
      <p:sp>
        <p:nvSpPr>
          <p:cNvPr id="7" name="Shape 5"/>
          <p:cNvSpPr/>
          <p:nvPr/>
        </p:nvSpPr>
        <p:spPr>
          <a:xfrm>
            <a:off x="6492240" y="1143000"/>
            <a:ext cx="4983480" cy="4709160"/>
          </a:xfrm>
          <a:prstGeom prst="roundRect">
            <a:avLst>
              <a:gd name="adj" fmla="val 155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444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Example recipe fragment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84848" y="1828800"/>
            <a:ext cx="4480560" cy="35204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"template_id": "306694",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"unit": "inch",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"features": [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{"name":"slot_top_01",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"type":"slot",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"roi":[1.0,0.0,15.0,6.5],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"expected_depth":5.9375,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"detector":"slot_depth_tool",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"tolerance":0.15},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{"name":"barcode_panel_1",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"type":"barcode",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"expected_box":[10.2,28.4,4.0,0.8],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"detector":"barcode_position_tool",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"tolerance":0.15}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acquisition and calibration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5488" y="6382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5"/>
                </a:solidFill>
              </a:rPr>
              <a:t>Detailed 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732520" y="63825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5"/>
                </a:solidFill>
              </a:rPr>
              <a:t>Corrugated Carton Vision Inspection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09728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E6F4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188720"/>
            <a:ext cx="2935224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88036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camera height and angle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 70” × 40” field coverage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Uniform non-reflective lighting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Flat background and repeatable sheet placement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sharpness, low motion blur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09728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188720"/>
            <a:ext cx="2935224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288036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Lens distortion correction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Perspective correction using corner/fiducial markers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Pixel-to-inch mapping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Sheet rotation and scale normalization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Periodic calibration verification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09728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3970">
            <a:solidFill>
              <a:srgbClr val="16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188720"/>
            <a:ext cx="2935224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controls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1828800"/>
            <a:ext cx="28346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Sub-pixel line fitting for edges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Reference marker quality checks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Reject image if sheet is cropped or blurred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Measurement repeatability test with known gauge/ruler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Separate POC accuracy from production accuracy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90672" y="5230368"/>
            <a:ext cx="5989320" cy="256032"/>
          </a:xfrm>
          <a:prstGeom prst="roundRect">
            <a:avLst>
              <a:gd name="adj" fmla="val 17857"/>
            </a:avLst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5280660"/>
            <a:ext cx="5843016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±0.1” to ±0.2” only after calibration is validated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4265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Runtime inspection: recipe-driven, not blind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Once the recipe exists, every captured sheet is inspected automatically using the correct tool per feature.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2331720" y="1874520"/>
            <a:ext cx="50292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892040" y="1874520"/>
            <a:ext cx="50292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52360" y="1874520"/>
            <a:ext cx="50292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012680" y="1874520"/>
            <a:ext cx="50292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51790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52728" y="1481328"/>
            <a:ext cx="987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Capture real carton sheet image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2834640" y="13716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368" y="151790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1568" y="148132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Detect boundary / markers and register image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394960" y="13716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04688" y="151790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61888" y="148132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Project recipe ROIs onto captured image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955280" y="13716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151790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22208" y="1481328"/>
            <a:ext cx="1399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Run type-specific detector in each ROI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0515600" y="137160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25328" y="1517904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25328" y="15773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82528" y="1481328"/>
            <a:ext cx="484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Compare actual vs expected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914400" y="30632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Example: slot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07008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ROI is known from recipe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Detect top cut, side cuts and slot bottom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Measure depth from reference edge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Compare with expected </a:t>
            </a:r>
            <a:r>
              <a:rPr lang="en-US" sz="1250" dirty="0" smtClean="0">
                <a:solidFill>
                  <a:srgbClr val="334155"/>
                </a:solidFill>
              </a:rPr>
              <a:t>5.75 </a:t>
            </a:r>
            <a:r>
              <a:rPr lang="en-US" sz="1250" dirty="0">
                <a:solidFill>
                  <a:srgbClr val="334155"/>
                </a:solidFill>
              </a:rPr>
              <a:t>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30632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Example: crease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18888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Search local crease ROI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Enhance low-contrast line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Fit crease line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Compare X/Y or angle error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38160" y="30632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Example: artwork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30768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Search only near expected location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Template/barcode/object matching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Measure shift and rotation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Report missing/wrong print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Feature-specific detector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Different carton features need different inspection tools; the recipe selects the correct one.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10835640" cy="609600"/>
          </a:xfrm>
          <a:prstGeom prst="rect">
            <a:avLst/>
          </a:prstGeom>
          <a:solidFill>
            <a:srgbClr val="2563EB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53312"/>
            <a:ext cx="2490826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Feature type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3359506" y="1353312"/>
            <a:ext cx="3357677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Detector / algorithm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6826910" y="1353312"/>
            <a:ext cx="465795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Output measurement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85800" y="1889760"/>
            <a:ext cx="1083564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62912"/>
            <a:ext cx="2490826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Boundary / cut edge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59506" y="1962912"/>
            <a:ext cx="3357677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Contour + line fitting + sub-pixel edge refinement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26910" y="1962912"/>
            <a:ext cx="465795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Length, width, skew, edge deviation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499360"/>
            <a:ext cx="10835640" cy="609600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572512"/>
            <a:ext cx="2490826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Crease / score 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59506" y="2572512"/>
            <a:ext cx="3357677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Local contrast enhancement + LSD/Hough + line fitting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26910" y="2572512"/>
            <a:ext cx="465795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Position error, angle error, presence/absence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1083564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182112"/>
            <a:ext cx="2490826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Slot / gap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9506" y="3182112"/>
            <a:ext cx="3357677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Edge grouping + contour fitting inside slot ROI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26910" y="3182112"/>
            <a:ext cx="465795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Depth, gap width, offset from reference edge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718560"/>
            <a:ext cx="10835640" cy="609600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91712"/>
            <a:ext cx="2490826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Panel / flap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9506" y="3791712"/>
            <a:ext cx="3357677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Distance between detected structural lines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26910" y="3791712"/>
            <a:ext cx="465795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Panel width, flap height, cumulative error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4328160"/>
            <a:ext cx="1083564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401312"/>
            <a:ext cx="2490826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Barcode / logo / text block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9506" y="4401312"/>
            <a:ext cx="3357677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Barcode detector, template matching, feature matching, optional OCR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26910" y="4401312"/>
            <a:ext cx="465795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Presence, X/Y shift, rotation, match score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5257800"/>
            <a:ext cx="103784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440680"/>
            <a:ext cx="9921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16A34A"/>
                </a:solidFill>
              </a:rPr>
              <a:t>The AI-generated recipe reduces ambiguity: a crease ROI will never be processed like a barcode, and a slot ROI will never be treated as random artwork.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Comparison logic: expected vs actual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All outputs become measurable deviations in inch/mm and pass/fail decisions.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Dimension example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2286000" cy="102412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CAD length = 57.125 in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Detected = 57.020 in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Error = -0.105 in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Tolerance = ±0.200 in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PASS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3317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334155"/>
                </a:solidFill>
              </a:rPr>
              <a:t>Same formula is used for width, panel size, slot depth and crease position.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Position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2286000" cy="15087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barcode: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X=10.20, Y=28.40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Detected barcode: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X=10.45, Y=28.30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error=+0.25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error=-0.10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Tolerance=±0.15 → FAIL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138160" y="1234440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Decision output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58200" y="2011680"/>
            <a:ext cx="23317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20" dirty="0">
                <a:solidFill>
                  <a:srgbClr val="334155"/>
                </a:solidFill>
              </a:rPr>
              <a:t>Actual value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Expected value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Deviation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Tolerance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Pass / fail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Annotated failure location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Technical risks and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4748B"/>
                </a:solidFill>
              </a:rPr>
              <a:t>The proposal should be credible: AI reduces setup effort, but robust validation and review are still required.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018520" cy="646611"/>
          </a:xfrm>
          <a:prstGeom prst="rect">
            <a:avLst/>
          </a:prstGeom>
          <a:solidFill>
            <a:srgbClr val="2563EB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52144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Risk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3311957" y="1152144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Impact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6837883" y="1152144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FFFFF"/>
                </a:solidFill>
              </a:rPr>
              <a:t>Mitigation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594360" y="1725603"/>
            <a:ext cx="1101852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798755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Scanned/non-vector PDFs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11957" y="1798755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Low-quality geometry extraction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37883" y="1798755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Render + vision extraction; request DXF/DWG where available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372215"/>
            <a:ext cx="11018520" cy="646611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45367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Cut and crease lines look similar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1957" y="2445367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Wrong feature classification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37883" y="2445367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AI confidence score + engineer approval for uncertain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018826"/>
            <a:ext cx="1101852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091978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Dimension text linked to wrong feature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1957" y="3091978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Incorrect measurement rule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37883" y="3091978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Geometry graph validation and overlay 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665438"/>
            <a:ext cx="11018520" cy="646611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738590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Low-contrast crease in camera image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1957" y="3738590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Missed crease detection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37883" y="3738590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Directional/side lighting and local contrast detectors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4312049"/>
            <a:ext cx="11018520" cy="646611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385201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Large 70×40 in FOV with tight tolerance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1957" y="4385201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Measurement error due to calibration/perspective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37883" y="4385201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Lens calibration, fixed mount, reference markers, homography validation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4958661"/>
            <a:ext cx="11018520" cy="646611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5031813"/>
            <a:ext cx="2534717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Artwork varies by print process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1957" y="5031813"/>
            <a:ext cx="3416198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False mismatch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37883" y="5031813"/>
            <a:ext cx="4738421" cy="53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Use tolerance windows and confidence thresholds; avoid color-quality claims in Phase 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1540</Words>
  <Application>Microsoft Office PowerPoint</Application>
  <PresentationFormat>Custom</PresentationFormat>
  <Paragraphs>297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SantronixAI Vision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Corrugated Cardboard Inspection - AI Assisted Recipe Generation</dc:title>
  <dc:subject>AI-assisted inspection recipe generation for corrugated carton inspection</dc:subject>
  <dc:creator>OpenAI;santosh</dc:creator>
  <cp:lastModifiedBy>SANTOSH</cp:lastModifiedBy>
  <cp:revision>29</cp:revision>
  <dcterms:created xsi:type="dcterms:W3CDTF">2026-06-09T05:31:48Z</dcterms:created>
  <dcterms:modified xsi:type="dcterms:W3CDTF">2026-06-09T09:45:11Z</dcterms:modified>
</cp:coreProperties>
</file>